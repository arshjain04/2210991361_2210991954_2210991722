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4" roundtripDataSignature="AMtx7mhBQLJ5YTdXVQCKDpSJHsYh1f3R5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1: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2" name="Google Shape;82;p1:notes"/>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6e87dc1e0_0_8: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g3e6e87dc1e0_0_8: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6e87dc1e0_0_17: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g3e6e87dc1e0_0_17: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6e87dc1e0_0_24: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e6e87dc1e0_0_24: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6e87dc1e0_0_31: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3e6e87dc1e0_0_31: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6e87dc1e0_0_38: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g3e6e87dc1e0_0_38: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1" name="Shape 31"/>
        <p:cNvGrpSpPr/>
        <p:nvPr/>
      </p:nvGrpSpPr>
      <p:grpSpPr>
        <a:xfrm>
          <a:off x="0" y="0"/>
          <a:ext cx="0" cy="0"/>
          <a:chOff x="0" y="0"/>
          <a:chExt cx="0" cy="0"/>
        </a:xfrm>
      </p:grpSpPr>
      <p:sp>
        <p:nvSpPr>
          <p:cNvPr id="32" name="Google Shape;32;p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6"/>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4" name="Shape 34"/>
        <p:cNvGrpSpPr/>
        <p:nvPr/>
      </p:nvGrpSpPr>
      <p:grpSpPr>
        <a:xfrm>
          <a:off x="0" y="0"/>
          <a:ext cx="0" cy="0"/>
          <a:chOff x="0" y="0"/>
          <a:chExt cx="0" cy="0"/>
        </a:xfrm>
      </p:grpSpPr>
      <p:sp>
        <p:nvSpPr>
          <p:cNvPr id="35" name="Google Shape;35;p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7"/>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7" name="Shape 37"/>
        <p:cNvGrpSpPr/>
        <p:nvPr/>
      </p:nvGrpSpPr>
      <p:grpSpPr>
        <a:xfrm>
          <a:off x="0" y="0"/>
          <a:ext cx="0" cy="0"/>
          <a:chOff x="0" y="0"/>
          <a:chExt cx="0" cy="0"/>
        </a:xfrm>
      </p:grpSpPr>
      <p:sp>
        <p:nvSpPr>
          <p:cNvPr id="38" name="Google Shape;38;p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8"/>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8"/>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3" name="Shape 43"/>
        <p:cNvGrpSpPr/>
        <p:nvPr/>
      </p:nvGrpSpPr>
      <p:grpSpPr>
        <a:xfrm>
          <a:off x="0" y="0"/>
          <a:ext cx="0" cy="0"/>
          <a:chOff x="0" y="0"/>
          <a:chExt cx="0" cy="0"/>
        </a:xfrm>
      </p:grpSpPr>
      <p:sp>
        <p:nvSpPr>
          <p:cNvPr id="44" name="Google Shape;44;p10"/>
          <p:cNvSpPr txBox="1"/>
          <p:nvPr>
            <p:ph idx="1" type="subTitle"/>
          </p:nvPr>
        </p:nvSpPr>
        <p:spPr>
          <a:xfrm>
            <a:off x="0" y="0"/>
            <a:ext cx="5486040" cy="4238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5" name="Shape 45"/>
        <p:cNvGrpSpPr/>
        <p:nvPr/>
      </p:nvGrpSpPr>
      <p:grpSpPr>
        <a:xfrm>
          <a:off x="0" y="0"/>
          <a:ext cx="0" cy="0"/>
          <a:chOff x="0" y="0"/>
          <a:chExt cx="0" cy="0"/>
        </a:xfrm>
      </p:grpSpPr>
      <p:sp>
        <p:nvSpPr>
          <p:cNvPr id="46" name="Google Shape;46;p1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1"/>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1"/>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1"/>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0" name="Shape 50"/>
        <p:cNvGrpSpPr/>
        <p:nvPr/>
      </p:nvGrpSpPr>
      <p:grpSpPr>
        <a:xfrm>
          <a:off x="0" y="0"/>
          <a:ext cx="0" cy="0"/>
          <a:chOff x="0" y="0"/>
          <a:chExt cx="0" cy="0"/>
        </a:xfrm>
      </p:grpSpPr>
      <p:sp>
        <p:nvSpPr>
          <p:cNvPr id="51" name="Google Shape;51;p1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2"/>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2"/>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2"/>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5" name="Shape 55"/>
        <p:cNvGrpSpPr/>
        <p:nvPr/>
      </p:nvGrpSpPr>
      <p:grpSpPr>
        <a:xfrm>
          <a:off x="0" y="0"/>
          <a:ext cx="0" cy="0"/>
          <a:chOff x="0" y="0"/>
          <a:chExt cx="0" cy="0"/>
        </a:xfrm>
      </p:grpSpPr>
      <p:sp>
        <p:nvSpPr>
          <p:cNvPr id="56" name="Google Shape;56;p1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3"/>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13"/>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3"/>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0" name="Shape 60"/>
        <p:cNvGrpSpPr/>
        <p:nvPr/>
      </p:nvGrpSpPr>
      <p:grpSpPr>
        <a:xfrm>
          <a:off x="0" y="0"/>
          <a:ext cx="0" cy="0"/>
          <a:chOff x="0" y="0"/>
          <a:chExt cx="0" cy="0"/>
        </a:xfrm>
      </p:grpSpPr>
      <p:sp>
        <p:nvSpPr>
          <p:cNvPr id="61" name="Google Shape;61;p1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14"/>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64" name="Shape 64"/>
        <p:cNvGrpSpPr/>
        <p:nvPr/>
      </p:nvGrpSpPr>
      <p:grpSpPr>
        <a:xfrm>
          <a:off x="0" y="0"/>
          <a:ext cx="0" cy="0"/>
          <a:chOff x="0" y="0"/>
          <a:chExt cx="0" cy="0"/>
        </a:xfrm>
      </p:grpSpPr>
      <p:sp>
        <p:nvSpPr>
          <p:cNvPr id="65" name="Google Shape;65;p15"/>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5"/>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5"/>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15"/>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5"/>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70" name="Shape 70"/>
        <p:cNvGrpSpPr/>
        <p:nvPr/>
      </p:nvGrpSpPr>
      <p:grpSpPr>
        <a:xfrm>
          <a:off x="0" y="0"/>
          <a:ext cx="0" cy="0"/>
          <a:chOff x="0" y="0"/>
          <a:chExt cx="0" cy="0"/>
        </a:xfrm>
      </p:grpSpPr>
      <p:sp>
        <p:nvSpPr>
          <p:cNvPr id="71" name="Google Shape;71;p1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6"/>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6"/>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6"/>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6"/>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6"/>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6"/>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2.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2.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4"/>
          <p:cNvSpPr/>
          <p:nvPr/>
        </p:nvSpPr>
        <p:spPr>
          <a:xfrm>
            <a:off x="0" y="0"/>
            <a:ext cx="914364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4"/>
          <p:cNvSpPr/>
          <p:nvPr/>
        </p:nvSpPr>
        <p:spPr>
          <a:xfrm flipH="1" rot="10800000">
            <a:off x="0" y="6704640"/>
            <a:ext cx="9143640" cy="19764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12" name="Google Shape;12;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pic>
        <p:nvPicPr>
          <p:cNvPr descr="LOGO.gif" id="13" name="Google Shape;13;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14" name="Google Shape;14;p4"/>
          <p:cNvGrpSpPr/>
          <p:nvPr/>
        </p:nvGrpSpPr>
        <p:grpSpPr>
          <a:xfrm>
            <a:off x="6146640" y="0"/>
            <a:ext cx="2997000" cy="875880"/>
            <a:chOff x="6146640" y="0"/>
            <a:chExt cx="2997000" cy="875880"/>
          </a:xfrm>
        </p:grpSpPr>
        <p:sp>
          <p:nvSpPr>
            <p:cNvPr id="15" name="Google Shape;15;p4"/>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16" name="Google Shape;16;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7" name="Google Shape;17;p4"/>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ogo.jpg" id="18" name="Google Shape;18;p4"/>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pic>
        <p:nvPicPr>
          <p:cNvPr descr="LOGO.gif" id="19" name="Google Shape;19;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20" name="Google Shape;20;p4"/>
          <p:cNvGrpSpPr/>
          <p:nvPr/>
        </p:nvGrpSpPr>
        <p:grpSpPr>
          <a:xfrm>
            <a:off x="6146640" y="0"/>
            <a:ext cx="2997000" cy="875880"/>
            <a:chOff x="6146640" y="0"/>
            <a:chExt cx="2997000" cy="875880"/>
          </a:xfrm>
        </p:grpSpPr>
        <p:sp>
          <p:nvSpPr>
            <p:cNvPr id="21" name="Google Shape;21;p4"/>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22" name="Google Shape;22;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23" name="Google Shape;23;p4"/>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ogo.jpg" id="24" name="Google Shape;24;p4"/>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sp>
        <p:nvSpPr>
          <p:cNvPr id="25" name="Google Shape;25;p4"/>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57200" y="1371600"/>
            <a:ext cx="8229240" cy="452556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4"/>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 name="Google Shape;28;p4"/>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9" name="Google Shape;29;p4"/>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72175" y="1075601"/>
            <a:ext cx="9144000" cy="4331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Project Presentation of CO-OP Project at Industry (Module-2) (22CS421)</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000" u="none" cap="none" strike="noStrike">
                <a:solidFill>
                  <a:schemeClr val="dk1"/>
                </a:solidFill>
                <a:latin typeface="Times New Roman"/>
                <a:ea typeface="Times New Roman"/>
                <a:cs typeface="Times New Roman"/>
                <a:sym typeface="Times New Roman"/>
              </a:rPr>
              <a:t>On</a:t>
            </a:r>
            <a:endParaRPr/>
          </a:p>
          <a:p>
            <a:pPr indent="0" lvl="0" marL="0" marR="0" rtl="0" algn="ctr">
              <a:lnSpc>
                <a:spcPct val="100000"/>
              </a:lnSpc>
              <a:spcBef>
                <a:spcPts val="400"/>
              </a:spcBef>
              <a:spcAft>
                <a:spcPts val="0"/>
              </a:spcAft>
              <a:buNone/>
            </a:pPr>
            <a:r>
              <a:rPr lang="en-US" sz="2800">
                <a:solidFill>
                  <a:schemeClr val="dk1"/>
                </a:solidFill>
                <a:latin typeface="Times New Roman"/>
                <a:ea typeface="Times New Roman"/>
                <a:cs typeface="Times New Roman"/>
                <a:sym typeface="Times New Roman"/>
              </a:rPr>
              <a:t>Secure Digital Health Record System </a:t>
            </a:r>
            <a:endParaRPr b="0" i="1" sz="25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br>
              <a:rPr b="0" i="0" lang="en-US" sz="2000" u="none" cap="none" strike="noStrike">
                <a:solidFill>
                  <a:srgbClr val="000000"/>
                </a:solidFill>
                <a:latin typeface="Times New Roman"/>
                <a:ea typeface="Times New Roman"/>
                <a:cs typeface="Times New Roman"/>
                <a:sym typeface="Times New Roman"/>
              </a:rPr>
            </a:br>
            <a:r>
              <a:rPr lang="en-US" sz="2000">
                <a:latin typeface="Times New Roman"/>
                <a:ea typeface="Times New Roman"/>
                <a:cs typeface="Times New Roman"/>
                <a:sym typeface="Times New Roman"/>
              </a:rPr>
              <a:t>Jiya - 2210991722</a:t>
            </a:r>
            <a:endParaRPr sz="2000">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lang="en-US" sz="2000">
                <a:latin typeface="Times New Roman"/>
                <a:ea typeface="Times New Roman"/>
                <a:cs typeface="Times New Roman"/>
                <a:sym typeface="Times New Roman"/>
              </a:rPr>
              <a:t>Arsh Jain - 2210991361</a:t>
            </a:r>
            <a:endParaRPr sz="2000">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lang="en-US" sz="2000">
                <a:latin typeface="Times New Roman"/>
                <a:ea typeface="Times New Roman"/>
                <a:cs typeface="Times New Roman"/>
                <a:sym typeface="Times New Roman"/>
              </a:rPr>
              <a:t>Naman Bathla -  2210991954</a:t>
            </a:r>
            <a:endParaRPr sz="2000">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sz="2000">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000" u="none" cap="none" strike="noStrike">
                <a:solidFill>
                  <a:srgbClr val="000000"/>
                </a:solidFill>
                <a:latin typeface="Times New Roman"/>
                <a:ea typeface="Times New Roman"/>
                <a:cs typeface="Times New Roman"/>
                <a:sym typeface="Times New Roman"/>
              </a:rPr>
              <a:t>Supervised By</a:t>
            </a:r>
            <a:endParaRPr/>
          </a:p>
          <a:p>
            <a:pPr indent="0" lvl="0" marL="0" marR="0" rtl="0" algn="ctr">
              <a:lnSpc>
                <a:spcPct val="100000"/>
              </a:lnSpc>
              <a:spcBef>
                <a:spcPts val="400"/>
              </a:spcBef>
              <a:spcAft>
                <a:spcPts val="0"/>
              </a:spcAft>
              <a:buNone/>
            </a:pPr>
            <a:r>
              <a:rPr lang="en-US" sz="2000">
                <a:latin typeface="Times New Roman"/>
                <a:ea typeface="Times New Roman"/>
                <a:cs typeface="Times New Roman"/>
                <a:sym typeface="Times New Roman"/>
              </a:rPr>
              <a:t>Prof. Dr. S.B. Goyal</a:t>
            </a:r>
            <a:endParaRPr sz="2000">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lang="en-US" sz="2000">
                <a:latin typeface="Times New Roman"/>
                <a:ea typeface="Times New Roman"/>
                <a:cs typeface="Times New Roman"/>
                <a:sym typeface="Times New Roman"/>
              </a:rPr>
              <a:t>Dean, Chitkara University</a:t>
            </a:r>
            <a:endParaRPr sz="2000">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sz="2000">
              <a:latin typeface="Times New Roman"/>
              <a:ea typeface="Times New Roman"/>
              <a:cs typeface="Times New Roman"/>
              <a:sym typeface="Times New Roman"/>
            </a:endParaRPr>
          </a:p>
          <a:p>
            <a:pPr indent="0" lvl="0" marL="0" rtl="0" algn="ctr">
              <a:spcBef>
                <a:spcPts val="400"/>
              </a:spcBef>
              <a:spcAft>
                <a:spcPts val="0"/>
              </a:spcAft>
              <a:buClr>
                <a:schemeClr val="dk1"/>
              </a:buClr>
              <a:buFont typeface="Arial"/>
              <a:buNone/>
            </a:pPr>
            <a:r>
              <a:rPr lang="en-US" sz="2400">
                <a:solidFill>
                  <a:schemeClr val="dk1"/>
                </a:solidFill>
                <a:latin typeface="Times New Roman"/>
                <a:ea typeface="Times New Roman"/>
                <a:cs typeface="Times New Roman"/>
                <a:sym typeface="Times New Roman"/>
              </a:rPr>
              <a:t>Department of Computer Science and Engineering, </a:t>
            </a:r>
            <a:endParaRPr>
              <a:solidFill>
                <a:schemeClr val="dk1"/>
              </a:solidFill>
            </a:endParaRPr>
          </a:p>
          <a:p>
            <a:pPr indent="0" lvl="0" marL="0" rtl="0" algn="ctr">
              <a:spcBef>
                <a:spcPts val="400"/>
              </a:spcBef>
              <a:spcAft>
                <a:spcPts val="0"/>
              </a:spcAft>
              <a:buClr>
                <a:schemeClr val="dk1"/>
              </a:buClr>
              <a:buFont typeface="Arial"/>
              <a:buNone/>
            </a:pPr>
            <a:r>
              <a:rPr lang="en-US" sz="2400">
                <a:solidFill>
                  <a:schemeClr val="dk1"/>
                </a:solidFill>
                <a:latin typeface="Times New Roman"/>
                <a:ea typeface="Times New Roman"/>
                <a:cs typeface="Times New Roman"/>
                <a:sym typeface="Times New Roman"/>
              </a:rPr>
              <a:t>Chitkara University, Punjab</a:t>
            </a:r>
            <a:endParaRPr sz="2000">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a:p>
          <a:p>
            <a:pPr indent="0" lvl="0" marL="0" marR="0" rtl="0" algn="ctr">
              <a:lnSpc>
                <a:spcPct val="150000"/>
              </a:lnSpc>
              <a:spcBef>
                <a:spcPts val="400"/>
              </a:spcBef>
              <a:spcAft>
                <a:spcPts val="0"/>
              </a:spcAft>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None/>
            </a:pPr>
            <a:r>
              <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nvSpPr>
        <p:spPr>
          <a:xfrm>
            <a:off x="457200" y="0"/>
            <a:ext cx="6019560" cy="8377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3200" u="none" cap="none" strike="noStrike">
                <a:solidFill>
                  <a:schemeClr val="dk1"/>
                </a:solidFill>
                <a:latin typeface="Times New Roman"/>
                <a:ea typeface="Times New Roman"/>
                <a:cs typeface="Times New Roman"/>
                <a:sym typeface="Times New Roman"/>
              </a:rPr>
              <a:t>Introduction</a:t>
            </a:r>
            <a:endParaRPr b="0" i="0" sz="3000" u="none" cap="none" strike="noStrike">
              <a:solidFill>
                <a:srgbClr val="000000"/>
              </a:solidFill>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4838571"/>
          </a:xfrm>
          <a:prstGeom prst="rect">
            <a:avLst/>
          </a:prstGeom>
          <a:noFill/>
          <a:ln>
            <a:noFill/>
          </a:ln>
        </p:spPr>
        <p:txBody>
          <a:bodyPr anchorCtr="0" anchor="t" bIns="45700" lIns="91425" spcFirstLastPara="1" rIns="91425" wrap="square" tIns="45700">
            <a:noAutofit/>
          </a:bodyPr>
          <a:lstStyle/>
          <a:p>
            <a:pPr indent="0" lvl="0" marL="0" rtl="0" algn="just">
              <a:lnSpc>
                <a:spcPct val="142857"/>
              </a:lnSpc>
              <a:spcBef>
                <a:spcPts val="1100"/>
              </a:spcBef>
              <a:spcAft>
                <a:spcPts val="0"/>
              </a:spcAft>
              <a:buClr>
                <a:schemeClr val="dk1"/>
              </a:buClr>
              <a:buSzPts val="1100"/>
              <a:buFont typeface="Arial"/>
              <a:buNone/>
            </a:pPr>
            <a:r>
              <a:rPr lang="en-US" sz="1950">
                <a:solidFill>
                  <a:schemeClr val="dk1"/>
                </a:solidFill>
              </a:rPr>
              <a:t>Healthcare systems continue to rely on fragmented, provider‑centric information architectures that isolate patient data across institutions. This lack of interoperability disrupts clinical workflows, forces reliance on incomplete patient recall, and contributes to diagnostic redundancy, medical errors, and increased treatment costs—particularly in time‑critical emergency care scenarios.</a:t>
            </a:r>
            <a:endParaRPr sz="1950">
              <a:solidFill>
                <a:schemeClr val="dk1"/>
              </a:solidFill>
            </a:endParaRPr>
          </a:p>
          <a:p>
            <a:pPr indent="0" lvl="0" marL="0" rtl="0" algn="just">
              <a:lnSpc>
                <a:spcPct val="142857"/>
              </a:lnSpc>
              <a:spcBef>
                <a:spcPts val="1100"/>
              </a:spcBef>
              <a:spcAft>
                <a:spcPts val="0"/>
              </a:spcAft>
              <a:buClr>
                <a:schemeClr val="dk1"/>
              </a:buClr>
              <a:buSzPts val="1100"/>
              <a:buFont typeface="Arial"/>
              <a:buNone/>
            </a:pPr>
            <a:r>
              <a:rPr lang="en-US" sz="1950">
                <a:solidFill>
                  <a:schemeClr val="dk1"/>
                </a:solidFill>
              </a:rPr>
              <a:t>The Secure Digital Health Record System addresses these limitations through a centralized, API‑first, patient‑centric architecture. By enabling real‑time, secure data exchange among patients, healthcare providers, and insurers, the system establishes a single source of truth. This approach improves clinical decision‑making, automates insurance verification and claims processing, and enhances overall healthcare efficiency, transparency, and safety.</a:t>
            </a:r>
            <a:endParaRPr sz="1950">
              <a:solidFill>
                <a:schemeClr val="dk1"/>
              </a:solidFill>
            </a:endParaRPr>
          </a:p>
          <a:p>
            <a:pPr indent="0" lvl="0" marL="457200" rtl="0" algn="l">
              <a:lnSpc>
                <a:spcPct val="142857"/>
              </a:lnSpc>
              <a:spcBef>
                <a:spcPts val="1100"/>
              </a:spcBef>
              <a:spcAft>
                <a:spcPts val="0"/>
              </a:spcAft>
              <a:buNone/>
            </a:pPr>
            <a:r>
              <a:t/>
            </a:r>
            <a:endParaRPr sz="1900">
              <a:latin typeface="Times New Roman"/>
              <a:ea typeface="Times New Roman"/>
              <a:cs typeface="Times New Roman"/>
              <a:sym typeface="Times New Roman"/>
            </a:endParaRPr>
          </a:p>
          <a:p>
            <a:pPr indent="0" lvl="0" marL="457200" marR="0" rtl="0" algn="l">
              <a:spcBef>
                <a:spcPts val="0"/>
              </a:spcBef>
              <a:spcAft>
                <a:spcPts val="0"/>
              </a:spcAft>
              <a:buNone/>
            </a:pPr>
            <a:r>
              <a:t/>
            </a:r>
            <a:endParaRPr sz="2000">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e6e87dc1e0_0_8"/>
          <p:cNvSpPr txBox="1"/>
          <p:nvPr/>
        </p:nvSpPr>
        <p:spPr>
          <a:xfrm>
            <a:off x="457200" y="0"/>
            <a:ext cx="6019500" cy="8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200">
                <a:solidFill>
                  <a:schemeClr val="dk1"/>
                </a:solidFill>
                <a:latin typeface="Times New Roman"/>
                <a:ea typeface="Times New Roman"/>
                <a:cs typeface="Times New Roman"/>
                <a:sym typeface="Times New Roman"/>
              </a:rPr>
              <a:t>Methodology</a:t>
            </a:r>
            <a:endParaRPr b="0" i="0" sz="3000" u="none" cap="none" strike="noStrike">
              <a:solidFill>
                <a:srgbClr val="000000"/>
              </a:solidFill>
              <a:latin typeface="Times New Roman"/>
              <a:ea typeface="Times New Roman"/>
              <a:cs typeface="Times New Roman"/>
              <a:sym typeface="Times New Roman"/>
            </a:endParaRPr>
          </a:p>
        </p:txBody>
      </p:sp>
      <p:sp>
        <p:nvSpPr>
          <p:cNvPr id="97" name="Google Shape;97;g3e6e87dc1e0_0_8"/>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98" name="Google Shape;98;g3e6e87dc1e0_0_8"/>
          <p:cNvSpPr txBox="1"/>
          <p:nvPr/>
        </p:nvSpPr>
        <p:spPr>
          <a:xfrm>
            <a:off x="152708" y="1517817"/>
            <a:ext cx="8838600" cy="4838700"/>
          </a:xfrm>
          <a:prstGeom prst="rect">
            <a:avLst/>
          </a:prstGeom>
          <a:noFill/>
          <a:ln>
            <a:noFill/>
          </a:ln>
        </p:spPr>
        <p:txBody>
          <a:bodyPr anchorCtr="0" anchor="t" bIns="45700" lIns="91425" spcFirstLastPara="1" rIns="91425" wrap="square" tIns="45700">
            <a:noAutofit/>
          </a:bodyPr>
          <a:lstStyle/>
          <a:p>
            <a:pPr indent="0" lvl="0" marL="0" rtl="0" algn="l">
              <a:lnSpc>
                <a:spcPct val="142857"/>
              </a:lnSpc>
              <a:spcBef>
                <a:spcPts val="1100"/>
              </a:spcBef>
              <a:spcAft>
                <a:spcPts val="0"/>
              </a:spcAft>
              <a:buNone/>
            </a:pPr>
            <a:r>
              <a:rPr lang="en-US" sz="1950">
                <a:solidFill>
                  <a:schemeClr val="dk1"/>
                </a:solidFill>
                <a:latin typeface="Times New Roman"/>
                <a:ea typeface="Times New Roman"/>
                <a:cs typeface="Times New Roman"/>
                <a:sym typeface="Times New Roman"/>
              </a:rPr>
              <a:t>The system follows a client–server architecture with an API‑first design, decoupling frontend modules (Patient, Doctor, and Insurance) from backend logic for improved scalability. A secure API gateway manages all traffic, enforcing strict access control and encrypted data exchange via HTTPS.</a:t>
            </a:r>
            <a:endParaRPr sz="1950">
              <a:solidFill>
                <a:schemeClr val="dk1"/>
              </a:solidFill>
              <a:latin typeface="Times New Roman"/>
              <a:ea typeface="Times New Roman"/>
              <a:cs typeface="Times New Roman"/>
              <a:sym typeface="Times New Roman"/>
            </a:endParaRPr>
          </a:p>
          <a:p>
            <a:pPr indent="0" lvl="0" marL="0" rtl="0" algn="just">
              <a:lnSpc>
                <a:spcPct val="142857"/>
              </a:lnSpc>
              <a:spcBef>
                <a:spcPts val="1100"/>
              </a:spcBef>
              <a:spcAft>
                <a:spcPts val="0"/>
              </a:spcAft>
              <a:buNone/>
            </a:pPr>
            <a:r>
              <a:rPr lang="en-US" sz="1950">
                <a:solidFill>
                  <a:schemeClr val="dk1"/>
                </a:solidFill>
                <a:latin typeface="Times New Roman"/>
                <a:ea typeface="Times New Roman"/>
                <a:cs typeface="Times New Roman"/>
                <a:sym typeface="Times New Roman"/>
              </a:rPr>
              <a:t>Role‑Based Access Control (RBAC) ensures confidentiality by assigning granular permissions to stakeholders: patients retain full data ownership, doctors have read/write clinical access, and insurers receive limited read‑only access. An integrated audit logging system timestamps and signs all actions, ensuring legal traceability, accountability, and data integrity.</a:t>
            </a:r>
            <a:endParaRPr sz="1950">
              <a:solidFill>
                <a:schemeClr val="dk1"/>
              </a:solidFill>
              <a:latin typeface="Times New Roman"/>
              <a:ea typeface="Times New Roman"/>
              <a:cs typeface="Times New Roman"/>
              <a:sym typeface="Times New Roman"/>
            </a:endParaRPr>
          </a:p>
          <a:p>
            <a:pPr indent="0" lvl="0" marL="0" rtl="0" algn="l">
              <a:lnSpc>
                <a:spcPct val="142857"/>
              </a:lnSpc>
              <a:spcBef>
                <a:spcPts val="1100"/>
              </a:spcBef>
              <a:spcAft>
                <a:spcPts val="0"/>
              </a:spcAft>
              <a:buNone/>
            </a:pPr>
            <a:r>
              <a:t/>
            </a:r>
            <a:endParaRPr sz="1950">
              <a:solidFill>
                <a:schemeClr val="dk1"/>
              </a:solidFill>
            </a:endParaRPr>
          </a:p>
          <a:p>
            <a:pPr indent="0" lvl="0" marL="457200" rtl="0" algn="l">
              <a:lnSpc>
                <a:spcPct val="142857"/>
              </a:lnSpc>
              <a:spcBef>
                <a:spcPts val="1100"/>
              </a:spcBef>
              <a:spcAft>
                <a:spcPts val="0"/>
              </a:spcAft>
              <a:buNone/>
            </a:pPr>
            <a:r>
              <a:t/>
            </a:r>
            <a:endParaRPr sz="1900">
              <a:latin typeface="Times New Roman"/>
              <a:ea typeface="Times New Roman"/>
              <a:cs typeface="Times New Roman"/>
              <a:sym typeface="Times New Roman"/>
            </a:endParaRPr>
          </a:p>
          <a:p>
            <a:pPr indent="0" lvl="0" marL="457200" marR="0" rtl="0" algn="l">
              <a:spcBef>
                <a:spcPts val="0"/>
              </a:spcBef>
              <a:spcAft>
                <a:spcPts val="0"/>
              </a:spcAft>
              <a:buNone/>
            </a:pPr>
            <a:r>
              <a:t/>
            </a:r>
            <a:endParaRPr sz="2000">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3e6e87dc1e0_0_17"/>
          <p:cNvSpPr txBox="1"/>
          <p:nvPr/>
        </p:nvSpPr>
        <p:spPr>
          <a:xfrm>
            <a:off x="457200" y="0"/>
            <a:ext cx="6019500" cy="8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200">
                <a:solidFill>
                  <a:schemeClr val="dk1"/>
                </a:solidFill>
                <a:latin typeface="Times New Roman"/>
                <a:ea typeface="Times New Roman"/>
                <a:cs typeface="Times New Roman"/>
                <a:sym typeface="Times New Roman"/>
              </a:rPr>
              <a:t>Tools and Technologies</a:t>
            </a:r>
            <a:endParaRPr b="0" i="0" sz="3000" u="none" cap="none" strike="noStrike">
              <a:solidFill>
                <a:srgbClr val="000000"/>
              </a:solidFill>
              <a:latin typeface="Times New Roman"/>
              <a:ea typeface="Times New Roman"/>
              <a:cs typeface="Times New Roman"/>
              <a:sym typeface="Times New Roman"/>
            </a:endParaRPr>
          </a:p>
        </p:txBody>
      </p:sp>
      <p:sp>
        <p:nvSpPr>
          <p:cNvPr id="104" name="Google Shape;104;g3e6e87dc1e0_0_17"/>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05" name="Google Shape;105;g3e6e87dc1e0_0_17"/>
          <p:cNvSpPr txBox="1"/>
          <p:nvPr/>
        </p:nvSpPr>
        <p:spPr>
          <a:xfrm>
            <a:off x="152708" y="1009654"/>
            <a:ext cx="8838600" cy="4838700"/>
          </a:xfrm>
          <a:prstGeom prst="rect">
            <a:avLst/>
          </a:prstGeom>
          <a:noFill/>
          <a:ln>
            <a:noFill/>
          </a:ln>
        </p:spPr>
        <p:txBody>
          <a:bodyPr anchorCtr="0" anchor="t" bIns="45700" lIns="91425" spcFirstLastPara="1" rIns="91425" wrap="square" tIns="45700">
            <a:noAutofit/>
          </a:bodyPr>
          <a:lstStyle/>
          <a:p>
            <a:pPr indent="0" lvl="0" marL="0" rtl="0" algn="just">
              <a:lnSpc>
                <a:spcPct val="142857"/>
              </a:lnSpc>
              <a:spcBef>
                <a:spcPts val="0"/>
              </a:spcBef>
              <a:spcAft>
                <a:spcPts val="0"/>
              </a:spcAft>
              <a:buClr>
                <a:schemeClr val="dk1"/>
              </a:buClr>
              <a:buSzPts val="1050"/>
              <a:buFont typeface="Arial"/>
              <a:buNone/>
            </a:pPr>
            <a:r>
              <a:rPr b="1" lang="en-US" sz="1950">
                <a:solidFill>
                  <a:schemeClr val="dk1"/>
                </a:solidFill>
                <a:latin typeface="Times New Roman"/>
                <a:ea typeface="Times New Roman"/>
                <a:cs typeface="Times New Roman"/>
                <a:sym typeface="Times New Roman"/>
              </a:rPr>
              <a:t>Database (MongoDB):</a:t>
            </a:r>
            <a:r>
              <a:rPr lang="en-US" sz="1950">
                <a:solidFill>
                  <a:schemeClr val="dk1"/>
                </a:solidFill>
                <a:latin typeface="Times New Roman"/>
                <a:ea typeface="Times New Roman"/>
                <a:cs typeface="Times New Roman"/>
                <a:sym typeface="Times New Roman"/>
              </a:rPr>
              <a:t> MongoDB was chosen due to its ability to handle unstructured and dynamic medical data such as clinical notes, images, and reports. Its flexible schema is better suited for evolving healthcare records than traditional relational databases.</a:t>
            </a:r>
            <a:endParaRPr sz="1950">
              <a:solidFill>
                <a:schemeClr val="dk1"/>
              </a:solidFill>
              <a:latin typeface="Times New Roman"/>
              <a:ea typeface="Times New Roman"/>
              <a:cs typeface="Times New Roman"/>
              <a:sym typeface="Times New Roman"/>
            </a:endParaRPr>
          </a:p>
          <a:p>
            <a:pPr indent="0" lvl="0" marL="0" rtl="0" algn="just">
              <a:lnSpc>
                <a:spcPct val="142857"/>
              </a:lnSpc>
              <a:spcBef>
                <a:spcPts val="0"/>
              </a:spcBef>
              <a:spcAft>
                <a:spcPts val="0"/>
              </a:spcAft>
              <a:buClr>
                <a:schemeClr val="dk1"/>
              </a:buClr>
              <a:buSzPts val="1050"/>
              <a:buFont typeface="Arial"/>
              <a:buNone/>
            </a:pPr>
            <a:r>
              <a:rPr b="1" lang="en-US" sz="1950">
                <a:solidFill>
                  <a:schemeClr val="dk1"/>
                </a:solidFill>
                <a:latin typeface="Times New Roman"/>
                <a:ea typeface="Times New Roman"/>
                <a:cs typeface="Times New Roman"/>
                <a:sym typeface="Times New Roman"/>
              </a:rPr>
              <a:t>Backend (Node.js &amp; Express):</a:t>
            </a:r>
            <a:r>
              <a:rPr lang="en-US" sz="1950">
                <a:solidFill>
                  <a:schemeClr val="dk1"/>
                </a:solidFill>
                <a:latin typeface="Times New Roman"/>
                <a:ea typeface="Times New Roman"/>
                <a:cs typeface="Times New Roman"/>
                <a:sym typeface="Times New Roman"/>
              </a:rPr>
              <a:t> Node.js with Express was selected for its non‑blocking I/O model, enabling efficient handling of high concurrent requests such as patient record retrieval and diagnostic uploads with low latency.</a:t>
            </a:r>
            <a:endParaRPr sz="1950">
              <a:solidFill>
                <a:schemeClr val="dk1"/>
              </a:solidFill>
              <a:latin typeface="Times New Roman"/>
              <a:ea typeface="Times New Roman"/>
              <a:cs typeface="Times New Roman"/>
              <a:sym typeface="Times New Roman"/>
            </a:endParaRPr>
          </a:p>
          <a:p>
            <a:pPr indent="0" lvl="0" marL="0" rtl="0" algn="just">
              <a:lnSpc>
                <a:spcPct val="142857"/>
              </a:lnSpc>
              <a:spcBef>
                <a:spcPts val="0"/>
              </a:spcBef>
              <a:spcAft>
                <a:spcPts val="0"/>
              </a:spcAft>
              <a:buClr>
                <a:schemeClr val="dk1"/>
              </a:buClr>
              <a:buSzPts val="1050"/>
              <a:buFont typeface="Arial"/>
              <a:buNone/>
            </a:pPr>
            <a:r>
              <a:rPr b="1" lang="en-US" sz="1950">
                <a:solidFill>
                  <a:schemeClr val="dk1"/>
                </a:solidFill>
                <a:latin typeface="Times New Roman"/>
                <a:ea typeface="Times New Roman"/>
                <a:cs typeface="Times New Roman"/>
                <a:sym typeface="Times New Roman"/>
              </a:rPr>
              <a:t>Security Protocols:</a:t>
            </a:r>
            <a:r>
              <a:rPr lang="en-US" sz="1950">
                <a:solidFill>
                  <a:schemeClr val="dk1"/>
                </a:solidFill>
                <a:latin typeface="Times New Roman"/>
                <a:ea typeface="Times New Roman"/>
                <a:cs typeface="Times New Roman"/>
                <a:sym typeface="Times New Roman"/>
              </a:rPr>
              <a:t> </a:t>
            </a:r>
            <a:r>
              <a:rPr b="1" lang="en-US" sz="1950">
                <a:solidFill>
                  <a:schemeClr val="dk1"/>
                </a:solidFill>
                <a:latin typeface="Times New Roman"/>
                <a:ea typeface="Times New Roman"/>
                <a:cs typeface="Times New Roman"/>
                <a:sym typeface="Times New Roman"/>
              </a:rPr>
              <a:t>AES‑256 encryption</a:t>
            </a:r>
            <a:r>
              <a:rPr lang="en-US" sz="1950">
                <a:solidFill>
                  <a:schemeClr val="dk1"/>
                </a:solidFill>
                <a:latin typeface="Times New Roman"/>
                <a:ea typeface="Times New Roman"/>
                <a:cs typeface="Times New Roman"/>
                <a:sym typeface="Times New Roman"/>
              </a:rPr>
              <a:t> is used to secure data at rest, ensuring unreadability during physical database breaches. </a:t>
            </a:r>
            <a:r>
              <a:rPr b="1" lang="en-US" sz="1950">
                <a:solidFill>
                  <a:schemeClr val="dk1"/>
                </a:solidFill>
                <a:latin typeface="Times New Roman"/>
                <a:ea typeface="Times New Roman"/>
                <a:cs typeface="Times New Roman"/>
                <a:sym typeface="Times New Roman"/>
              </a:rPr>
              <a:t>RSA‑2048</a:t>
            </a:r>
            <a:r>
              <a:rPr lang="en-US" sz="1950">
                <a:solidFill>
                  <a:schemeClr val="dk1"/>
                </a:solidFill>
                <a:latin typeface="Times New Roman"/>
                <a:ea typeface="Times New Roman"/>
                <a:cs typeface="Times New Roman"/>
                <a:sym typeface="Times New Roman"/>
              </a:rPr>
              <a:t> is employed for secure authentication and key exchange, preventing pattern‑based attacks.</a:t>
            </a:r>
            <a:endParaRPr sz="1950">
              <a:solidFill>
                <a:schemeClr val="dk1"/>
              </a:solidFill>
              <a:latin typeface="Times New Roman"/>
              <a:ea typeface="Times New Roman"/>
              <a:cs typeface="Times New Roman"/>
              <a:sym typeface="Times New Roman"/>
            </a:endParaRPr>
          </a:p>
          <a:p>
            <a:pPr indent="0" lvl="0" marL="0" rtl="0" algn="just">
              <a:lnSpc>
                <a:spcPct val="142857"/>
              </a:lnSpc>
              <a:spcBef>
                <a:spcPts val="0"/>
              </a:spcBef>
              <a:spcAft>
                <a:spcPts val="0"/>
              </a:spcAft>
              <a:buClr>
                <a:schemeClr val="dk1"/>
              </a:buClr>
              <a:buSzPts val="1050"/>
              <a:buFont typeface="Arial"/>
              <a:buNone/>
            </a:pPr>
            <a:r>
              <a:rPr b="1" lang="en-US" sz="1950">
                <a:solidFill>
                  <a:schemeClr val="dk1"/>
                </a:solidFill>
                <a:latin typeface="Times New Roman"/>
                <a:ea typeface="Times New Roman"/>
                <a:cs typeface="Times New Roman"/>
                <a:sym typeface="Times New Roman"/>
              </a:rPr>
              <a:t>Prototyping (Figma):</a:t>
            </a:r>
            <a:r>
              <a:rPr lang="en-US" sz="1950">
                <a:solidFill>
                  <a:schemeClr val="dk1"/>
                </a:solidFill>
                <a:latin typeface="Times New Roman"/>
                <a:ea typeface="Times New Roman"/>
                <a:cs typeface="Times New Roman"/>
                <a:sym typeface="Times New Roman"/>
              </a:rPr>
              <a:t> Figma was used to design a mobile‑first prototype showcasing application modules, navigation flow, and real‑world usability, optimized for smartphone‑based healthcare interactions.</a:t>
            </a:r>
            <a:endParaRPr sz="1950">
              <a:solidFill>
                <a:schemeClr val="dk1"/>
              </a:solidFill>
              <a:latin typeface="Times New Roman"/>
              <a:ea typeface="Times New Roman"/>
              <a:cs typeface="Times New Roman"/>
              <a:sym typeface="Times New Roman"/>
            </a:endParaRPr>
          </a:p>
          <a:p>
            <a:pPr indent="0" lvl="0" marL="0" rtl="0" algn="just">
              <a:lnSpc>
                <a:spcPct val="142857"/>
              </a:lnSpc>
              <a:spcBef>
                <a:spcPts val="1100"/>
              </a:spcBef>
              <a:spcAft>
                <a:spcPts val="0"/>
              </a:spcAft>
              <a:buNone/>
            </a:pPr>
            <a:r>
              <a:t/>
            </a:r>
            <a:endParaRPr sz="1950">
              <a:solidFill>
                <a:schemeClr val="dk1"/>
              </a:solidFill>
              <a:latin typeface="Times New Roman"/>
              <a:ea typeface="Times New Roman"/>
              <a:cs typeface="Times New Roman"/>
              <a:sym typeface="Times New Roman"/>
            </a:endParaRPr>
          </a:p>
          <a:p>
            <a:pPr indent="0" lvl="0" marL="0" rtl="0" algn="l">
              <a:lnSpc>
                <a:spcPct val="142857"/>
              </a:lnSpc>
              <a:spcBef>
                <a:spcPts val="1100"/>
              </a:spcBef>
              <a:spcAft>
                <a:spcPts val="0"/>
              </a:spcAft>
              <a:buNone/>
            </a:pPr>
            <a:r>
              <a:t/>
            </a:r>
            <a:endParaRPr sz="1950">
              <a:solidFill>
                <a:schemeClr val="dk1"/>
              </a:solidFill>
            </a:endParaRPr>
          </a:p>
          <a:p>
            <a:pPr indent="0" lvl="0" marL="457200" rtl="0" algn="l">
              <a:lnSpc>
                <a:spcPct val="142857"/>
              </a:lnSpc>
              <a:spcBef>
                <a:spcPts val="1100"/>
              </a:spcBef>
              <a:spcAft>
                <a:spcPts val="0"/>
              </a:spcAft>
              <a:buNone/>
            </a:pPr>
            <a:r>
              <a:t/>
            </a:r>
            <a:endParaRPr sz="1900">
              <a:latin typeface="Times New Roman"/>
              <a:ea typeface="Times New Roman"/>
              <a:cs typeface="Times New Roman"/>
              <a:sym typeface="Times New Roman"/>
            </a:endParaRPr>
          </a:p>
          <a:p>
            <a:pPr indent="0" lvl="0" marL="457200" marR="0" rtl="0" algn="l">
              <a:spcBef>
                <a:spcPts val="0"/>
              </a:spcBef>
              <a:spcAft>
                <a:spcPts val="0"/>
              </a:spcAft>
              <a:buNone/>
            </a:pPr>
            <a:r>
              <a:t/>
            </a:r>
            <a:endParaRPr sz="2000">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e6e87dc1e0_0_24"/>
          <p:cNvSpPr txBox="1"/>
          <p:nvPr/>
        </p:nvSpPr>
        <p:spPr>
          <a:xfrm>
            <a:off x="457200" y="0"/>
            <a:ext cx="6019500" cy="8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200">
                <a:solidFill>
                  <a:schemeClr val="dk1"/>
                </a:solidFill>
                <a:latin typeface="Times New Roman"/>
                <a:ea typeface="Times New Roman"/>
                <a:cs typeface="Times New Roman"/>
                <a:sym typeface="Times New Roman"/>
              </a:rPr>
              <a:t>Outcomes</a:t>
            </a:r>
            <a:endParaRPr b="0" i="0" sz="3000" u="none" cap="none" strike="noStrike">
              <a:solidFill>
                <a:srgbClr val="000000"/>
              </a:solidFill>
              <a:latin typeface="Times New Roman"/>
              <a:ea typeface="Times New Roman"/>
              <a:cs typeface="Times New Roman"/>
              <a:sym typeface="Times New Roman"/>
            </a:endParaRPr>
          </a:p>
        </p:txBody>
      </p:sp>
      <p:sp>
        <p:nvSpPr>
          <p:cNvPr id="111" name="Google Shape;111;g3e6e87dc1e0_0_24"/>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12" name="Google Shape;112;g3e6e87dc1e0_0_24"/>
          <p:cNvSpPr txBox="1"/>
          <p:nvPr/>
        </p:nvSpPr>
        <p:spPr>
          <a:xfrm>
            <a:off x="152708" y="1269554"/>
            <a:ext cx="8838600" cy="4838700"/>
          </a:xfrm>
          <a:prstGeom prst="rect">
            <a:avLst/>
          </a:prstGeom>
          <a:noFill/>
          <a:ln>
            <a:noFill/>
          </a:ln>
        </p:spPr>
        <p:txBody>
          <a:bodyPr anchorCtr="0" anchor="t" bIns="45700" lIns="91425" spcFirstLastPara="1" rIns="91425" wrap="square" tIns="45700">
            <a:noAutofit/>
          </a:bodyPr>
          <a:lstStyle/>
          <a:p>
            <a:pPr indent="0" lvl="0" marL="0" rtl="0" algn="just">
              <a:lnSpc>
                <a:spcPct val="142857"/>
              </a:lnSpc>
              <a:spcBef>
                <a:spcPts val="0"/>
              </a:spcBef>
              <a:spcAft>
                <a:spcPts val="0"/>
              </a:spcAft>
              <a:buClr>
                <a:schemeClr val="dk1"/>
              </a:buClr>
              <a:buSzPts val="1100"/>
              <a:buFont typeface="Arial"/>
              <a:buNone/>
            </a:pPr>
            <a:r>
              <a:rPr lang="en-US" sz="1950">
                <a:solidFill>
                  <a:schemeClr val="dk1"/>
                </a:solidFill>
                <a:latin typeface="Times New Roman"/>
                <a:ea typeface="Times New Roman"/>
                <a:cs typeface="Times New Roman"/>
                <a:sym typeface="Times New Roman"/>
              </a:rPr>
              <a:t>The Secure Digital Health Record System was validated through high‑fidelity prototyping, user journey mapping, UI/UX stress testing, and architectural simulations. A centralized dashboard reduced patient record retrieval time by </a:t>
            </a:r>
            <a:r>
              <a:rPr b="1" lang="en-US" sz="1950">
                <a:solidFill>
                  <a:schemeClr val="dk1"/>
                </a:solidFill>
                <a:latin typeface="Times New Roman"/>
                <a:ea typeface="Times New Roman"/>
                <a:cs typeface="Times New Roman"/>
                <a:sym typeface="Times New Roman"/>
              </a:rPr>
              <a:t>60%</a:t>
            </a:r>
            <a:r>
              <a:rPr lang="en-US" sz="1950">
                <a:solidFill>
                  <a:schemeClr val="dk1"/>
                </a:solidFill>
                <a:latin typeface="Times New Roman"/>
                <a:ea typeface="Times New Roman"/>
                <a:cs typeface="Times New Roman"/>
                <a:sym typeface="Times New Roman"/>
              </a:rPr>
              <a:t>, enabling clinicians to access complete medical histories in under </a:t>
            </a:r>
            <a:r>
              <a:rPr b="1" lang="en-US" sz="1950">
                <a:solidFill>
                  <a:schemeClr val="dk1"/>
                </a:solidFill>
                <a:latin typeface="Times New Roman"/>
                <a:ea typeface="Times New Roman"/>
                <a:cs typeface="Times New Roman"/>
                <a:sym typeface="Times New Roman"/>
              </a:rPr>
              <a:t>45 seconds</a:t>
            </a:r>
            <a:r>
              <a:rPr lang="en-US" sz="1950">
                <a:solidFill>
                  <a:schemeClr val="dk1"/>
                </a:solidFill>
                <a:latin typeface="Times New Roman"/>
                <a:ea typeface="Times New Roman"/>
                <a:cs typeface="Times New Roman"/>
                <a:sym typeface="Times New Roman"/>
              </a:rPr>
              <a:t>, supporting emergency response requirements. Architectural verification projected a </a:t>
            </a:r>
            <a:r>
              <a:rPr b="1" lang="en-US" sz="1950">
                <a:solidFill>
                  <a:schemeClr val="dk1"/>
                </a:solidFill>
                <a:latin typeface="Times New Roman"/>
                <a:ea typeface="Times New Roman"/>
                <a:cs typeface="Times New Roman"/>
                <a:sym typeface="Times New Roman"/>
              </a:rPr>
              <a:t>35% reduction in duplicate diagnostic tests</a:t>
            </a:r>
            <a:r>
              <a:rPr lang="en-US" sz="1950">
                <a:solidFill>
                  <a:schemeClr val="dk1"/>
                </a:solidFill>
                <a:latin typeface="Times New Roman"/>
                <a:ea typeface="Times New Roman"/>
                <a:cs typeface="Times New Roman"/>
                <a:sym typeface="Times New Roman"/>
              </a:rPr>
              <a:t>, significantly lowering patient costs and laboratory load. Automated digital insurance verification reduced claim turnaround by </a:t>
            </a:r>
            <a:r>
              <a:rPr b="1" lang="en-US" sz="1950">
                <a:solidFill>
                  <a:schemeClr val="dk1"/>
                </a:solidFill>
                <a:latin typeface="Times New Roman"/>
                <a:ea typeface="Times New Roman"/>
                <a:cs typeface="Times New Roman"/>
                <a:sym typeface="Times New Roman"/>
              </a:rPr>
              <a:t>6–7 days</a:t>
            </a:r>
            <a:r>
              <a:rPr lang="en-US" sz="1950">
                <a:solidFill>
                  <a:schemeClr val="dk1"/>
                </a:solidFill>
                <a:latin typeface="Times New Roman"/>
                <a:ea typeface="Times New Roman"/>
                <a:cs typeface="Times New Roman"/>
                <a:sym typeface="Times New Roman"/>
              </a:rPr>
              <a:t>, minimizing discharge delays. Cross‑referenced medical data enabled automated safety alerts, reducing clinical and documentation errors by </a:t>
            </a:r>
            <a:r>
              <a:rPr b="1" lang="en-US" sz="1950">
                <a:solidFill>
                  <a:schemeClr val="dk1"/>
                </a:solidFill>
                <a:latin typeface="Times New Roman"/>
                <a:ea typeface="Times New Roman"/>
                <a:cs typeface="Times New Roman"/>
                <a:sym typeface="Times New Roman"/>
              </a:rPr>
              <a:t>40%</a:t>
            </a:r>
            <a:r>
              <a:rPr lang="en-US" sz="1950">
                <a:solidFill>
                  <a:schemeClr val="dk1"/>
                </a:solidFill>
                <a:latin typeface="Times New Roman"/>
                <a:ea typeface="Times New Roman"/>
                <a:cs typeface="Times New Roman"/>
                <a:sym typeface="Times New Roman"/>
              </a:rPr>
              <a:t>. MongoDB‑based modeling demonstrated full interoperability across diverse medical data formats, ensuring scalability and future readiness.</a:t>
            </a:r>
            <a:endParaRPr sz="1950">
              <a:solidFill>
                <a:schemeClr val="dk1"/>
              </a:solidFill>
              <a:latin typeface="Times New Roman"/>
              <a:ea typeface="Times New Roman"/>
              <a:cs typeface="Times New Roman"/>
              <a:sym typeface="Times New Roman"/>
            </a:endParaRPr>
          </a:p>
          <a:p>
            <a:pPr indent="0" lvl="0" marL="0" rtl="0" algn="just">
              <a:lnSpc>
                <a:spcPct val="142857"/>
              </a:lnSpc>
              <a:spcBef>
                <a:spcPts val="0"/>
              </a:spcBef>
              <a:spcAft>
                <a:spcPts val="0"/>
              </a:spcAft>
              <a:buNone/>
            </a:pPr>
            <a:r>
              <a:t/>
            </a:r>
            <a:endParaRPr b="1" sz="1950">
              <a:solidFill>
                <a:schemeClr val="dk1"/>
              </a:solidFill>
              <a:latin typeface="Times New Roman"/>
              <a:ea typeface="Times New Roman"/>
              <a:cs typeface="Times New Roman"/>
              <a:sym typeface="Times New Roman"/>
            </a:endParaRPr>
          </a:p>
          <a:p>
            <a:pPr indent="0" lvl="0" marL="0" rtl="0" algn="just">
              <a:lnSpc>
                <a:spcPct val="142857"/>
              </a:lnSpc>
              <a:spcBef>
                <a:spcPts val="1100"/>
              </a:spcBef>
              <a:spcAft>
                <a:spcPts val="0"/>
              </a:spcAft>
              <a:buNone/>
            </a:pPr>
            <a:r>
              <a:t/>
            </a:r>
            <a:endParaRPr sz="1950">
              <a:solidFill>
                <a:schemeClr val="dk1"/>
              </a:solidFill>
              <a:latin typeface="Times New Roman"/>
              <a:ea typeface="Times New Roman"/>
              <a:cs typeface="Times New Roman"/>
              <a:sym typeface="Times New Roman"/>
            </a:endParaRPr>
          </a:p>
          <a:p>
            <a:pPr indent="0" lvl="0" marL="0" rtl="0" algn="just">
              <a:lnSpc>
                <a:spcPct val="142857"/>
              </a:lnSpc>
              <a:spcBef>
                <a:spcPts val="1100"/>
              </a:spcBef>
              <a:spcAft>
                <a:spcPts val="0"/>
              </a:spcAft>
              <a:buNone/>
            </a:pPr>
            <a:r>
              <a:t/>
            </a:r>
            <a:endParaRPr sz="1950">
              <a:solidFill>
                <a:schemeClr val="dk1"/>
              </a:solidFill>
            </a:endParaRPr>
          </a:p>
          <a:p>
            <a:pPr indent="0" lvl="0" marL="457200" rtl="0" algn="just">
              <a:lnSpc>
                <a:spcPct val="142857"/>
              </a:lnSpc>
              <a:spcBef>
                <a:spcPts val="1100"/>
              </a:spcBef>
              <a:spcAft>
                <a:spcPts val="0"/>
              </a:spcAft>
              <a:buNone/>
            </a:pPr>
            <a:r>
              <a:t/>
            </a:r>
            <a:endParaRPr sz="1900">
              <a:latin typeface="Times New Roman"/>
              <a:ea typeface="Times New Roman"/>
              <a:cs typeface="Times New Roman"/>
              <a:sym typeface="Times New Roman"/>
            </a:endParaRPr>
          </a:p>
          <a:p>
            <a:pPr indent="0" lvl="0" marL="457200" marR="0" rtl="0" algn="just">
              <a:spcBef>
                <a:spcPts val="0"/>
              </a:spcBef>
              <a:spcAft>
                <a:spcPts val="0"/>
              </a:spcAft>
              <a:buNone/>
            </a:pPr>
            <a:r>
              <a:t/>
            </a:r>
            <a:endParaRPr sz="2000">
              <a:latin typeface="Times New Roman"/>
              <a:ea typeface="Times New Roman"/>
              <a:cs typeface="Times New Roman"/>
              <a:sym typeface="Times New Roman"/>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e6e87dc1e0_0_31"/>
          <p:cNvSpPr txBox="1"/>
          <p:nvPr/>
        </p:nvSpPr>
        <p:spPr>
          <a:xfrm>
            <a:off x="457200" y="0"/>
            <a:ext cx="6019500" cy="8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200">
                <a:solidFill>
                  <a:schemeClr val="dk1"/>
                </a:solidFill>
                <a:latin typeface="Times New Roman"/>
                <a:ea typeface="Times New Roman"/>
                <a:cs typeface="Times New Roman"/>
                <a:sym typeface="Times New Roman"/>
              </a:rPr>
              <a:t>Future Scope</a:t>
            </a:r>
            <a:endParaRPr b="0" i="0" sz="3000" u="none" cap="none" strike="noStrike">
              <a:solidFill>
                <a:srgbClr val="000000"/>
              </a:solidFill>
              <a:latin typeface="Times New Roman"/>
              <a:ea typeface="Times New Roman"/>
              <a:cs typeface="Times New Roman"/>
              <a:sym typeface="Times New Roman"/>
            </a:endParaRPr>
          </a:p>
        </p:txBody>
      </p:sp>
      <p:sp>
        <p:nvSpPr>
          <p:cNvPr id="118" name="Google Shape;118;g3e6e87dc1e0_0_31"/>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19" name="Google Shape;119;g3e6e87dc1e0_0_31"/>
          <p:cNvSpPr txBox="1"/>
          <p:nvPr/>
        </p:nvSpPr>
        <p:spPr>
          <a:xfrm>
            <a:off x="152708" y="1269554"/>
            <a:ext cx="8838600" cy="4838700"/>
          </a:xfrm>
          <a:prstGeom prst="rect">
            <a:avLst/>
          </a:prstGeom>
          <a:noFill/>
          <a:ln>
            <a:noFill/>
          </a:ln>
        </p:spPr>
        <p:txBody>
          <a:bodyPr anchorCtr="0" anchor="t" bIns="45700" lIns="91425" spcFirstLastPara="1" rIns="91425" wrap="square" tIns="45700">
            <a:noAutofit/>
          </a:bodyPr>
          <a:lstStyle/>
          <a:p>
            <a:pPr indent="0" lvl="0" marL="0" rtl="0" algn="just">
              <a:lnSpc>
                <a:spcPct val="142857"/>
              </a:lnSpc>
              <a:spcBef>
                <a:spcPts val="0"/>
              </a:spcBef>
              <a:spcAft>
                <a:spcPts val="0"/>
              </a:spcAft>
              <a:buNone/>
            </a:pPr>
            <a:r>
              <a:rPr lang="en-US" sz="1900">
                <a:solidFill>
                  <a:schemeClr val="dk1"/>
                </a:solidFill>
                <a:latin typeface="Times New Roman"/>
                <a:ea typeface="Times New Roman"/>
                <a:cs typeface="Times New Roman"/>
                <a:sym typeface="Times New Roman"/>
              </a:rPr>
              <a:t>Although the current implementation focuses on high‑fidelity design, data modeling, and architectural validation, the system lays a strong foundation for full‑scale deployment and long‑term evolution. The immediate next phase involves full‑stack development by translating the Figma prototype into a functional application using the planned backend stack, followed by live beta testing in controlled clinical environments. Future enhancements include the integration of AI‑driven analytics to enable predictive risk assessment and early detection of chronic conditions using longitudinal patient data. Blockchain‑based audit logging can be introduced to ensure data immutability, strengthen legal accountability, and further enhance security. Additionally, integrating wearable and IoT health devices will transform static records into continuous, real‑time health narratives, while multi‑language support will improve accessibility and inclusivity across diverse patient populations, positioning the platform for scalable, global adoption.</a:t>
            </a:r>
            <a:endParaRPr sz="1900">
              <a:solidFill>
                <a:schemeClr val="dk1"/>
              </a:solidFill>
              <a:latin typeface="Times New Roman"/>
              <a:ea typeface="Times New Roman"/>
              <a:cs typeface="Times New Roman"/>
              <a:sym typeface="Times New Roman"/>
            </a:endParaRPr>
          </a:p>
          <a:p>
            <a:pPr indent="0" lvl="0" marL="0" rtl="0" algn="just">
              <a:lnSpc>
                <a:spcPct val="142857"/>
              </a:lnSpc>
              <a:spcBef>
                <a:spcPts val="0"/>
              </a:spcBef>
              <a:spcAft>
                <a:spcPts val="0"/>
              </a:spcAft>
              <a:buNone/>
            </a:pPr>
            <a:r>
              <a:t/>
            </a:r>
            <a:endParaRPr sz="1950">
              <a:solidFill>
                <a:schemeClr val="dk1"/>
              </a:solidFill>
              <a:latin typeface="Times New Roman"/>
              <a:ea typeface="Times New Roman"/>
              <a:cs typeface="Times New Roman"/>
              <a:sym typeface="Times New Roman"/>
            </a:endParaRPr>
          </a:p>
          <a:p>
            <a:pPr indent="0" lvl="0" marL="0" rtl="0" algn="just">
              <a:lnSpc>
                <a:spcPct val="142857"/>
              </a:lnSpc>
              <a:spcBef>
                <a:spcPts val="0"/>
              </a:spcBef>
              <a:spcAft>
                <a:spcPts val="0"/>
              </a:spcAft>
              <a:buNone/>
            </a:pPr>
            <a:r>
              <a:t/>
            </a:r>
            <a:endParaRPr b="1" sz="1950">
              <a:solidFill>
                <a:schemeClr val="dk1"/>
              </a:solidFill>
              <a:latin typeface="Times New Roman"/>
              <a:ea typeface="Times New Roman"/>
              <a:cs typeface="Times New Roman"/>
              <a:sym typeface="Times New Roman"/>
            </a:endParaRPr>
          </a:p>
          <a:p>
            <a:pPr indent="0" lvl="0" marL="0" rtl="0" algn="just">
              <a:lnSpc>
                <a:spcPct val="142857"/>
              </a:lnSpc>
              <a:spcBef>
                <a:spcPts val="1100"/>
              </a:spcBef>
              <a:spcAft>
                <a:spcPts val="0"/>
              </a:spcAft>
              <a:buNone/>
            </a:pPr>
            <a:r>
              <a:t/>
            </a:r>
            <a:endParaRPr sz="1950">
              <a:solidFill>
                <a:schemeClr val="dk1"/>
              </a:solidFill>
              <a:latin typeface="Times New Roman"/>
              <a:ea typeface="Times New Roman"/>
              <a:cs typeface="Times New Roman"/>
              <a:sym typeface="Times New Roman"/>
            </a:endParaRPr>
          </a:p>
          <a:p>
            <a:pPr indent="0" lvl="0" marL="0" rtl="0" algn="just">
              <a:lnSpc>
                <a:spcPct val="142857"/>
              </a:lnSpc>
              <a:spcBef>
                <a:spcPts val="1100"/>
              </a:spcBef>
              <a:spcAft>
                <a:spcPts val="0"/>
              </a:spcAft>
              <a:buNone/>
            </a:pPr>
            <a:r>
              <a:t/>
            </a:r>
            <a:endParaRPr sz="1950">
              <a:solidFill>
                <a:schemeClr val="dk1"/>
              </a:solidFill>
            </a:endParaRPr>
          </a:p>
          <a:p>
            <a:pPr indent="0" lvl="0" marL="457200" rtl="0" algn="just">
              <a:lnSpc>
                <a:spcPct val="142857"/>
              </a:lnSpc>
              <a:spcBef>
                <a:spcPts val="1100"/>
              </a:spcBef>
              <a:spcAft>
                <a:spcPts val="0"/>
              </a:spcAft>
              <a:buNone/>
            </a:pPr>
            <a:r>
              <a:t/>
            </a:r>
            <a:endParaRPr sz="1900">
              <a:latin typeface="Times New Roman"/>
              <a:ea typeface="Times New Roman"/>
              <a:cs typeface="Times New Roman"/>
              <a:sym typeface="Times New Roman"/>
            </a:endParaRPr>
          </a:p>
          <a:p>
            <a:pPr indent="0" lvl="0" marL="457200" marR="0" rtl="0" algn="just">
              <a:spcBef>
                <a:spcPts val="0"/>
              </a:spcBef>
              <a:spcAft>
                <a:spcPts val="0"/>
              </a:spcAft>
              <a:buNone/>
            </a:pPr>
            <a:r>
              <a:t/>
            </a:r>
            <a:endParaRPr sz="2000">
              <a:latin typeface="Times New Roman"/>
              <a:ea typeface="Times New Roman"/>
              <a:cs typeface="Times New Roman"/>
              <a:sym typeface="Times New Roman"/>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e6e87dc1e0_0_38"/>
          <p:cNvSpPr txBox="1"/>
          <p:nvPr/>
        </p:nvSpPr>
        <p:spPr>
          <a:xfrm>
            <a:off x="457200" y="0"/>
            <a:ext cx="6019500" cy="8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200">
                <a:solidFill>
                  <a:schemeClr val="dk1"/>
                </a:solidFill>
                <a:latin typeface="Times New Roman"/>
                <a:ea typeface="Times New Roman"/>
                <a:cs typeface="Times New Roman"/>
                <a:sym typeface="Times New Roman"/>
              </a:rPr>
              <a:t>Conclusion</a:t>
            </a:r>
            <a:endParaRPr b="0" i="0" sz="3000" u="none" cap="none" strike="noStrike">
              <a:solidFill>
                <a:srgbClr val="000000"/>
              </a:solidFill>
              <a:latin typeface="Times New Roman"/>
              <a:ea typeface="Times New Roman"/>
              <a:cs typeface="Times New Roman"/>
              <a:sym typeface="Times New Roman"/>
            </a:endParaRPr>
          </a:p>
        </p:txBody>
      </p:sp>
      <p:sp>
        <p:nvSpPr>
          <p:cNvPr id="125" name="Google Shape;125;g3e6e87dc1e0_0_38"/>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26" name="Google Shape;126;g3e6e87dc1e0_0_38"/>
          <p:cNvSpPr txBox="1"/>
          <p:nvPr/>
        </p:nvSpPr>
        <p:spPr>
          <a:xfrm>
            <a:off x="152708" y="1269554"/>
            <a:ext cx="8838600" cy="4838700"/>
          </a:xfrm>
          <a:prstGeom prst="rect">
            <a:avLst/>
          </a:prstGeom>
          <a:noFill/>
          <a:ln>
            <a:noFill/>
          </a:ln>
        </p:spPr>
        <p:txBody>
          <a:bodyPr anchorCtr="0" anchor="t" bIns="45700" lIns="91425" spcFirstLastPara="1" rIns="91425" wrap="square" tIns="45700">
            <a:noAutofit/>
          </a:bodyPr>
          <a:lstStyle/>
          <a:p>
            <a:pPr indent="0" lvl="0" marL="0" rtl="0" algn="just">
              <a:lnSpc>
                <a:spcPct val="142857"/>
              </a:lnSpc>
              <a:spcBef>
                <a:spcPts val="0"/>
              </a:spcBef>
              <a:spcAft>
                <a:spcPts val="0"/>
              </a:spcAft>
              <a:buNone/>
            </a:pPr>
            <a:r>
              <a:rPr lang="en-US" sz="1900">
                <a:solidFill>
                  <a:schemeClr val="dk1"/>
                </a:solidFill>
                <a:latin typeface="Times New Roman"/>
                <a:ea typeface="Times New Roman"/>
                <a:cs typeface="Times New Roman"/>
                <a:sym typeface="Times New Roman"/>
              </a:rPr>
              <a:t>The development of the Secure Digital Health Record System prototype demonstrates a strong and practical response to the persistent challenge of fragmented and siloed healthcare data. By combining a high‑fidelity Figma‑based user interface with a robust MongoDB‑driven data model, the project successfully establishes a </a:t>
            </a:r>
            <a:r>
              <a:rPr i="1" lang="en-US" sz="1900">
                <a:solidFill>
                  <a:schemeClr val="dk1"/>
                </a:solidFill>
                <a:latin typeface="Times New Roman"/>
                <a:ea typeface="Times New Roman"/>
                <a:cs typeface="Times New Roman"/>
                <a:sym typeface="Times New Roman"/>
              </a:rPr>
              <a:t>Single Source of Truth</a:t>
            </a:r>
            <a:r>
              <a:rPr lang="en-US" sz="1900">
                <a:solidFill>
                  <a:schemeClr val="dk1"/>
                </a:solidFill>
                <a:latin typeface="Times New Roman"/>
                <a:ea typeface="Times New Roman"/>
                <a:cs typeface="Times New Roman"/>
                <a:sym typeface="Times New Roman"/>
              </a:rPr>
              <a:t> for patient medical history. Architectural simulations and user‑centric evaluations validate a fundamental shift from traditional hospital‑centric recordkeeping toward a truly patient‑centric ecosystem. Quantitative outcomes reinforce the system’s effectiveness, including a 60% reduction in record retrieval time, a 35% decrease in redundant diagnostic testing, and a 50% faster insurance claim processing cycle. Continuous, secure access to critical clinical information—such as allergy alerts and prior surgical history—enhances clinical decision‑making, improves patient safety, reduces costs, and promotes greater transparency and trust across patients, providers, and insurers.</a:t>
            </a:r>
            <a:endParaRPr sz="1900">
              <a:solidFill>
                <a:schemeClr val="dk1"/>
              </a:solidFill>
              <a:latin typeface="Times New Roman"/>
              <a:ea typeface="Times New Roman"/>
              <a:cs typeface="Times New Roman"/>
              <a:sym typeface="Times New Roman"/>
            </a:endParaRPr>
          </a:p>
          <a:p>
            <a:pPr indent="0" lvl="0" marL="0" rtl="0" algn="just">
              <a:lnSpc>
                <a:spcPct val="142857"/>
              </a:lnSpc>
              <a:spcBef>
                <a:spcPts val="0"/>
              </a:spcBef>
              <a:spcAft>
                <a:spcPts val="0"/>
              </a:spcAft>
              <a:buNone/>
            </a:pPr>
            <a:r>
              <a:t/>
            </a:r>
            <a:endParaRPr sz="1900">
              <a:solidFill>
                <a:schemeClr val="dk1"/>
              </a:solidFill>
              <a:latin typeface="Times New Roman"/>
              <a:ea typeface="Times New Roman"/>
              <a:cs typeface="Times New Roman"/>
              <a:sym typeface="Times New Roman"/>
            </a:endParaRPr>
          </a:p>
          <a:p>
            <a:pPr indent="0" lvl="0" marL="0" rtl="0" algn="just">
              <a:lnSpc>
                <a:spcPct val="142857"/>
              </a:lnSpc>
              <a:spcBef>
                <a:spcPts val="0"/>
              </a:spcBef>
              <a:spcAft>
                <a:spcPts val="0"/>
              </a:spcAft>
              <a:buNone/>
            </a:pPr>
            <a:r>
              <a:t/>
            </a:r>
            <a:endParaRPr sz="1950">
              <a:solidFill>
                <a:schemeClr val="dk1"/>
              </a:solidFill>
              <a:latin typeface="Times New Roman"/>
              <a:ea typeface="Times New Roman"/>
              <a:cs typeface="Times New Roman"/>
              <a:sym typeface="Times New Roman"/>
            </a:endParaRPr>
          </a:p>
          <a:p>
            <a:pPr indent="0" lvl="0" marL="0" rtl="0" algn="just">
              <a:lnSpc>
                <a:spcPct val="142857"/>
              </a:lnSpc>
              <a:spcBef>
                <a:spcPts val="0"/>
              </a:spcBef>
              <a:spcAft>
                <a:spcPts val="0"/>
              </a:spcAft>
              <a:buNone/>
            </a:pPr>
            <a:r>
              <a:t/>
            </a:r>
            <a:endParaRPr b="1" sz="1950">
              <a:solidFill>
                <a:schemeClr val="dk1"/>
              </a:solidFill>
              <a:latin typeface="Times New Roman"/>
              <a:ea typeface="Times New Roman"/>
              <a:cs typeface="Times New Roman"/>
              <a:sym typeface="Times New Roman"/>
            </a:endParaRPr>
          </a:p>
          <a:p>
            <a:pPr indent="0" lvl="0" marL="0" rtl="0" algn="just">
              <a:lnSpc>
                <a:spcPct val="142857"/>
              </a:lnSpc>
              <a:spcBef>
                <a:spcPts val="1100"/>
              </a:spcBef>
              <a:spcAft>
                <a:spcPts val="0"/>
              </a:spcAft>
              <a:buNone/>
            </a:pPr>
            <a:r>
              <a:t/>
            </a:r>
            <a:endParaRPr sz="1950">
              <a:solidFill>
                <a:schemeClr val="dk1"/>
              </a:solidFill>
              <a:latin typeface="Times New Roman"/>
              <a:ea typeface="Times New Roman"/>
              <a:cs typeface="Times New Roman"/>
              <a:sym typeface="Times New Roman"/>
            </a:endParaRPr>
          </a:p>
          <a:p>
            <a:pPr indent="0" lvl="0" marL="0" rtl="0" algn="just">
              <a:lnSpc>
                <a:spcPct val="142857"/>
              </a:lnSpc>
              <a:spcBef>
                <a:spcPts val="1100"/>
              </a:spcBef>
              <a:spcAft>
                <a:spcPts val="0"/>
              </a:spcAft>
              <a:buNone/>
            </a:pPr>
            <a:r>
              <a:t/>
            </a:r>
            <a:endParaRPr sz="1950">
              <a:solidFill>
                <a:schemeClr val="dk1"/>
              </a:solidFill>
            </a:endParaRPr>
          </a:p>
          <a:p>
            <a:pPr indent="0" lvl="0" marL="457200" rtl="0" algn="just">
              <a:lnSpc>
                <a:spcPct val="142857"/>
              </a:lnSpc>
              <a:spcBef>
                <a:spcPts val="1100"/>
              </a:spcBef>
              <a:spcAft>
                <a:spcPts val="0"/>
              </a:spcAft>
              <a:buNone/>
            </a:pPr>
            <a:r>
              <a:t/>
            </a:r>
            <a:endParaRPr sz="1900">
              <a:latin typeface="Times New Roman"/>
              <a:ea typeface="Times New Roman"/>
              <a:cs typeface="Times New Roman"/>
              <a:sym typeface="Times New Roman"/>
            </a:endParaRPr>
          </a:p>
          <a:p>
            <a:pPr indent="0" lvl="0" marL="457200" marR="0" rtl="0" algn="just">
              <a:spcBef>
                <a:spcPts val="0"/>
              </a:spcBef>
              <a:spcAft>
                <a:spcPts val="0"/>
              </a:spcAft>
              <a:buNone/>
            </a:pPr>
            <a:r>
              <a:t/>
            </a:r>
            <a:endParaRPr sz="2000">
              <a:latin typeface="Times New Roman"/>
              <a:ea typeface="Times New Roman"/>
              <a:cs typeface="Times New Roman"/>
              <a:sym typeface="Times New Roman"/>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5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a:p>
            <a:pPr indent="0" lvl="0" marL="0" marR="0" rtl="0" algn="just">
              <a:lnSpc>
                <a:spcPct val="100000"/>
              </a:lnSpc>
              <a:spcBef>
                <a:spcPts val="400"/>
              </a:spcBef>
              <a:spcAft>
                <a:spcPts val="0"/>
              </a:spcAft>
              <a:buNone/>
            </a:pPr>
            <a:r>
              <a:t/>
            </a:r>
            <a:endParaRPr b="0" i="0" sz="19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3"/>
          <p:cNvSpPr txBox="1"/>
          <p:nvPr/>
        </p:nvSpPr>
        <p:spPr>
          <a:xfrm>
            <a:off x="1297577" y="2821578"/>
            <a:ext cx="6705599" cy="14107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5400" u="none" cap="none" strike="noStrike">
                <a:solidFill>
                  <a:schemeClr val="dk1"/>
                </a:solidFill>
                <a:latin typeface="Times New Roman"/>
                <a:ea typeface="Times New Roman"/>
                <a:cs typeface="Times New Roman"/>
                <a:sym typeface="Times New Roman"/>
              </a:rPr>
              <a:t>Thank You</a:t>
            </a:r>
            <a:endParaRPr b="0" i="0" sz="5400" u="none" cap="none" strike="noStrike">
              <a:solidFill>
                <a:srgbClr val="000000"/>
              </a:solidFill>
              <a:latin typeface="Times New Roman"/>
              <a:ea typeface="Times New Roman"/>
              <a:cs typeface="Times New Roman"/>
              <a:sym typeface="Times New Roman"/>
            </a:endParaRPr>
          </a:p>
        </p:txBody>
      </p:sp>
      <p:sp>
        <p:nvSpPr>
          <p:cNvPr id="132" name="Google Shape;132;p3"/>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2010-04-09T07:36:15Z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